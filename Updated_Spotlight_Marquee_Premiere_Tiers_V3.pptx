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>
        <p:scale>
          <a:sx n="85" d="100"/>
          <a:sy n="85" d="100"/>
        </p:scale>
        <p:origin x="1496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0944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0" y="6537960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92A2"/>
                </a:solidFill>
              </a:rPr>
              <a:t>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23774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24A"/>
                </a:solidFill>
              </a:rPr>
              <a:t>FILM OFFERING STRUCTURE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4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Spotlight • Marquee • Premiere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877824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BAC6"/>
                </a:solidFill>
              </a:rPr>
              <a:t>Three investor tiers for a Reg D 506(c) movie offering, organized around Member Unit economics, enhanced participation rights, and streamlined investor benefits.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4A24A"/>
                </a:solidFill>
              </a:rPr>
              <a:t>• </a:t>
            </a:r>
            <a:r>
              <a:rPr lang="en-US" sz="1250" dirty="0">
                <a:solidFill>
                  <a:srgbClr val="F5F4EE"/>
                </a:solidFill>
              </a:rPr>
              <a:t>Spotlight — $25K entry tier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4A24A"/>
                </a:solidFill>
              </a:rPr>
              <a:t>•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5F4EE"/>
                </a:solidFill>
              </a:rPr>
              <a:t>Marquee — $50K+ added rights and premium access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4A24A"/>
                </a:solidFill>
              </a:rPr>
              <a:t>•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5F4EE"/>
                </a:solidFill>
              </a:rPr>
              <a:t>Premiere — $100K+ highest access and priority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973568" y="914400"/>
            <a:ext cx="1965960" cy="1024128"/>
          </a:xfrm>
          <a:prstGeom prst="roundRect">
            <a:avLst>
              <a:gd name="adj" fmla="val 4464"/>
            </a:avLst>
          </a:prstGeom>
          <a:solidFill>
            <a:srgbClr val="111321"/>
          </a:solidFill>
          <a:ln w="12700">
            <a:solidFill>
              <a:srgbClr val="2A2E43"/>
            </a:solidFill>
            <a:prstDash val="solid"/>
          </a:ln>
          <a:effectLst>
            <a:outerShdw blurRad="12700" dist="63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10728" y="1005840"/>
            <a:ext cx="16916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24A"/>
                </a:solidFill>
              </a:rPr>
              <a:t>SPOTLIGHT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110728" y="113385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4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$25,000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10728" y="1408176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7BAC6"/>
                </a:solidFill>
              </a:rPr>
              <a:t>Core protection and early participation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973568" y="2029968"/>
            <a:ext cx="1965960" cy="1024128"/>
          </a:xfrm>
          <a:prstGeom prst="roundRect">
            <a:avLst>
              <a:gd name="adj" fmla="val 4464"/>
            </a:avLst>
          </a:prstGeom>
          <a:solidFill>
            <a:srgbClr val="111321"/>
          </a:solidFill>
          <a:ln w="12700">
            <a:solidFill>
              <a:srgbClr val="2A2E43"/>
            </a:solidFill>
            <a:prstDash val="solid"/>
          </a:ln>
          <a:effectLst>
            <a:outerShdw blurRad="12700" dist="63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10728" y="2121408"/>
            <a:ext cx="16916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24A"/>
                </a:solidFill>
              </a:rPr>
              <a:t>MARQUEE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110728" y="224942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4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$50,000+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10728" y="2523744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7BAC6"/>
                </a:solidFill>
              </a:rPr>
              <a:t>Added rights and premium access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973568" y="3145536"/>
            <a:ext cx="1965960" cy="1143000"/>
          </a:xfrm>
          <a:prstGeom prst="roundRect">
            <a:avLst>
              <a:gd name="adj" fmla="val 4000"/>
            </a:avLst>
          </a:prstGeom>
          <a:solidFill>
            <a:srgbClr val="111321"/>
          </a:solidFill>
          <a:ln w="12700">
            <a:solidFill>
              <a:srgbClr val="D4A24A"/>
            </a:solidFill>
            <a:prstDash val="solid"/>
          </a:ln>
          <a:effectLst>
            <a:outerShdw blurRad="12700" dist="63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10728" y="3236976"/>
            <a:ext cx="16916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24A"/>
                </a:solidFill>
              </a:rPr>
              <a:t>PREMIERE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110728" y="3364992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4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$100,000+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10728" y="363931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7BAC6"/>
                </a:solidFill>
              </a:rPr>
              <a:t>Highest priority, recognition, and access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0" y="6537960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92A2"/>
                </a:solidFill>
              </a:rPr>
              <a:t>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23774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24A"/>
                </a:solidFill>
              </a:rPr>
              <a:t>TIER 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4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Investment Tier Matrix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877824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BAC6"/>
                </a:solidFill>
              </a:rPr>
              <a:t>Spotlight, Marquee, and Premiere shown across Member Unit economics, enhanced participation rights, and investor benefits.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11292840" cy="329184"/>
          </a:xfrm>
          <a:prstGeom prst="roundRect">
            <a:avLst>
              <a:gd name="adj" fmla="val 8333"/>
            </a:avLst>
          </a:prstGeom>
          <a:solidFill>
            <a:srgbClr val="0D1020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583680" y="1234440"/>
            <a:ext cx="1706880" cy="329184"/>
          </a:xfrm>
          <a:prstGeom prst="roundRect">
            <a:avLst>
              <a:gd name="adj" fmla="val 8333"/>
            </a:avLst>
          </a:prstGeom>
          <a:solidFill>
            <a:srgbClr val="0D1020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583680" y="1284732"/>
            <a:ext cx="1706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4EE"/>
                </a:solidFill>
              </a:rPr>
              <a:t>Spotlight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5F4EE"/>
                </a:solidFill>
              </a:rPr>
              <a:t>$25K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90560" y="1234440"/>
            <a:ext cx="1706880" cy="329184"/>
          </a:xfrm>
          <a:prstGeom prst="roundRect">
            <a:avLst>
              <a:gd name="adj" fmla="val 8333"/>
            </a:avLst>
          </a:prstGeom>
          <a:solidFill>
            <a:srgbClr val="0D1020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90560" y="1284732"/>
            <a:ext cx="1706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4EE"/>
                </a:solidFill>
              </a:rPr>
              <a:t>Marquee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5F4EE"/>
                </a:solidFill>
              </a:rPr>
              <a:t>$50K+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997440" y="1234440"/>
            <a:ext cx="1706880" cy="329184"/>
          </a:xfrm>
          <a:prstGeom prst="roundRect">
            <a:avLst>
              <a:gd name="adj" fmla="val 8333"/>
            </a:avLst>
          </a:prstGeom>
          <a:solidFill>
            <a:srgbClr val="111321"/>
          </a:solidFill>
          <a:ln w="12700">
            <a:solidFill>
              <a:srgbClr val="D4A2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997440" y="1284732"/>
            <a:ext cx="17068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4EE"/>
                </a:solidFill>
              </a:rPr>
              <a:t>Premiere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5F4EE"/>
                </a:solidFill>
              </a:rPr>
              <a:t>$100K+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1581912"/>
            <a:ext cx="11292840" cy="233172"/>
          </a:xfrm>
          <a:prstGeom prst="rect">
            <a:avLst/>
          </a:prstGeom>
          <a:solidFill>
            <a:srgbClr val="111321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02920" y="1632204"/>
            <a:ext cx="3657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24A"/>
                </a:solidFill>
              </a:rPr>
              <a:t>MEMBER UNIT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" y="1815084"/>
            <a:ext cx="1129284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02920" y="1858975"/>
            <a:ext cx="6025896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5F4EE"/>
                </a:solidFill>
              </a:rPr>
              <a:t>Repayment of invested capital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1815084"/>
            <a:ext cx="170688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83680" y="1828800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90560" y="1815084"/>
            <a:ext cx="170688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90560" y="1828800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997440" y="1815084"/>
            <a:ext cx="170688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997440" y="1828800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2048256"/>
            <a:ext cx="1129284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02920" y="2092147"/>
            <a:ext cx="6025896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5F4EE"/>
                </a:solidFill>
              </a:rPr>
              <a:t>20% preferred return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0" y="2048256"/>
            <a:ext cx="170688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583680" y="2061972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90560" y="2048256"/>
            <a:ext cx="170688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290560" y="2061972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997440" y="2048256"/>
            <a:ext cx="170688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9997440" y="2061972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11480" y="2281428"/>
            <a:ext cx="1129284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 sz="1000"/>
          </a:p>
        </p:txBody>
      </p:sp>
      <p:sp>
        <p:nvSpPr>
          <p:cNvPr id="32" name="Text 30"/>
          <p:cNvSpPr/>
          <p:nvPr/>
        </p:nvSpPr>
        <p:spPr>
          <a:xfrm>
            <a:off x="502920" y="2325319"/>
            <a:ext cx="6025896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5F4EE"/>
                </a:solidFill>
              </a:rPr>
              <a:t>Membership Units at 20% discount to next qualified Reg CF offering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83680" y="2281428"/>
            <a:ext cx="170688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583680" y="2295144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90560" y="2281428"/>
            <a:ext cx="170688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290560" y="2295144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997440" y="2281428"/>
            <a:ext cx="170688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9997440" y="2295144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11480" y="2514600"/>
            <a:ext cx="1129284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 sz="1000"/>
          </a:p>
        </p:txBody>
      </p:sp>
      <p:sp>
        <p:nvSpPr>
          <p:cNvPr id="40" name="Text 38"/>
          <p:cNvSpPr/>
          <p:nvPr/>
        </p:nvSpPr>
        <p:spPr>
          <a:xfrm>
            <a:off x="502920" y="2558491"/>
            <a:ext cx="6025896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5F4EE"/>
                </a:solidFill>
              </a:rPr>
              <a:t>Priority / first access to designated municipal incentives and related proceeds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83680" y="2514600"/>
            <a:ext cx="170688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583680" y="2528316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290560" y="2514600"/>
            <a:ext cx="170688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8290560" y="2528316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997440" y="2514600"/>
            <a:ext cx="170688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9997440" y="2528316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11480" y="2747772"/>
            <a:ext cx="11292840" cy="233172"/>
          </a:xfrm>
          <a:prstGeom prst="rect">
            <a:avLst/>
          </a:prstGeom>
          <a:solidFill>
            <a:srgbClr val="111321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502920" y="2798064"/>
            <a:ext cx="3657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24A"/>
                </a:solidFill>
              </a:rPr>
              <a:t>ENHANCED PARTICIPATION RIGHTS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11480" y="2980944"/>
            <a:ext cx="1129284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502920" y="3024835"/>
            <a:ext cx="6025896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5F4EE"/>
                </a:solidFill>
              </a:rPr>
              <a:t>Upside participation rights through such Membership Units once issued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583680" y="2980944"/>
            <a:ext cx="170688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8290560" y="2980944"/>
            <a:ext cx="170688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8290560" y="2994660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997440" y="2980944"/>
            <a:ext cx="170688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9997440" y="2994660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11480" y="3214116"/>
            <a:ext cx="1129284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 sz="1000" dirty="0"/>
          </a:p>
        </p:txBody>
      </p:sp>
      <p:sp>
        <p:nvSpPr>
          <p:cNvPr id="57" name="Text 55"/>
          <p:cNvSpPr/>
          <p:nvPr/>
        </p:nvSpPr>
        <p:spPr>
          <a:xfrm>
            <a:off x="502920" y="3258007"/>
            <a:ext cx="6025896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Pro rata rights</a:t>
            </a:r>
          </a:p>
        </p:txBody>
      </p:sp>
      <p:sp>
        <p:nvSpPr>
          <p:cNvPr id="58" name="Shape 56"/>
          <p:cNvSpPr/>
          <p:nvPr/>
        </p:nvSpPr>
        <p:spPr>
          <a:xfrm>
            <a:off x="6583680" y="3214116"/>
            <a:ext cx="170688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8290560" y="3214116"/>
            <a:ext cx="170688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8290560" y="3227832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9997440" y="3214116"/>
            <a:ext cx="170688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9997440" y="3227832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11480" y="3447288"/>
            <a:ext cx="1129284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502920" y="3491179"/>
            <a:ext cx="6025896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5F4EE"/>
                </a:solidFill>
              </a:rPr>
              <a:t>Priority allocation if participation rights are limited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583680" y="3447288"/>
            <a:ext cx="170688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8290560" y="3447288"/>
            <a:ext cx="170688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9997440" y="3447288"/>
            <a:ext cx="170688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9997440" y="3461004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11480" y="3680460"/>
            <a:ext cx="1129284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 sz="1000"/>
          </a:p>
        </p:txBody>
      </p:sp>
      <p:sp>
        <p:nvSpPr>
          <p:cNvPr id="70" name="Text 68"/>
          <p:cNvSpPr/>
          <p:nvPr/>
        </p:nvSpPr>
        <p:spPr>
          <a:xfrm>
            <a:off x="502920" y="3724351"/>
            <a:ext cx="6025896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5F4EE"/>
                </a:solidFill>
              </a:rPr>
              <a:t>First-priority allocation if participation rights are limited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583680" y="3680460"/>
            <a:ext cx="170688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8290560" y="3680460"/>
            <a:ext cx="170688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9997440" y="3680460"/>
            <a:ext cx="170688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9997440" y="3694176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411480" y="3913632"/>
            <a:ext cx="1129284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 sz="1000"/>
          </a:p>
        </p:txBody>
      </p:sp>
      <p:sp>
        <p:nvSpPr>
          <p:cNvPr id="76" name="Text 74"/>
          <p:cNvSpPr/>
          <p:nvPr/>
        </p:nvSpPr>
        <p:spPr>
          <a:xfrm>
            <a:off x="502920" y="3957523"/>
            <a:ext cx="6025896" cy="1371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5F4EE"/>
                </a:solidFill>
              </a:rPr>
              <a:t>Most-favored economic terms protection, if offered to later investors in this offering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583680" y="3913632"/>
            <a:ext cx="170688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hape 76"/>
          <p:cNvSpPr/>
          <p:nvPr/>
        </p:nvSpPr>
        <p:spPr>
          <a:xfrm>
            <a:off x="8290560" y="3913632"/>
            <a:ext cx="170688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Shape 77"/>
          <p:cNvSpPr/>
          <p:nvPr/>
        </p:nvSpPr>
        <p:spPr>
          <a:xfrm>
            <a:off x="9997440" y="3913632"/>
            <a:ext cx="170688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/>
          <p:nvPr/>
        </p:nvSpPr>
        <p:spPr>
          <a:xfrm>
            <a:off x="9997440" y="3927348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411480" y="4146804"/>
            <a:ext cx="11292840" cy="233172"/>
          </a:xfrm>
          <a:prstGeom prst="rect">
            <a:avLst/>
          </a:prstGeom>
          <a:solidFill>
            <a:srgbClr val="111321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80"/>
          <p:cNvSpPr/>
          <p:nvPr/>
        </p:nvSpPr>
        <p:spPr>
          <a:xfrm>
            <a:off x="502920" y="4197096"/>
            <a:ext cx="3657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24A"/>
                </a:solidFill>
              </a:rPr>
              <a:t>INVESTOR BENEFITS*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11480" y="4379976"/>
            <a:ext cx="1129284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84" name="Text 82"/>
          <p:cNvSpPr/>
          <p:nvPr/>
        </p:nvSpPr>
        <p:spPr>
          <a:xfrm>
            <a:off x="502920" y="4423867"/>
            <a:ext cx="6025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5F5F5"/>
                </a:solidFill>
              </a:rPr>
              <a:t>    </a:t>
            </a:r>
            <a:r>
              <a:rPr sz="1000" b="0" dirty="0">
                <a:solidFill>
                  <a:srgbClr val="F5F5F5"/>
                </a:solidFill>
              </a:rPr>
              <a:t>Investor Updates &amp; Private Screening*</a:t>
            </a:r>
            <a:r>
              <a:rPr lang="en-US" sz="1000" b="0" dirty="0">
                <a:solidFill>
                  <a:srgbClr val="F5F5F5"/>
                </a:solidFill>
              </a:rPr>
              <a:t> </a:t>
            </a:r>
            <a:r>
              <a:rPr sz="600" i="1" dirty="0">
                <a:solidFill>
                  <a:srgbClr val="B5B9C7"/>
                </a:solidFill>
              </a:rPr>
              <a:t>(</a:t>
            </a:r>
            <a:r>
              <a:rPr lang="en-US" sz="600" i="1" dirty="0">
                <a:solidFill>
                  <a:srgbClr val="B5B9C7"/>
                </a:solidFill>
              </a:rPr>
              <a:t>updates, behind-the-scenes access, private screening)</a:t>
            </a:r>
            <a:endParaRPr sz="600" i="1" dirty="0">
              <a:solidFill>
                <a:srgbClr val="B5B9C7"/>
              </a:solidFill>
            </a:endParaRPr>
          </a:p>
        </p:txBody>
      </p:sp>
      <p:sp>
        <p:nvSpPr>
          <p:cNvPr id="85" name="Shape 83"/>
          <p:cNvSpPr/>
          <p:nvPr/>
        </p:nvSpPr>
        <p:spPr>
          <a:xfrm>
            <a:off x="6583680" y="4379976"/>
            <a:ext cx="170688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84"/>
          <p:cNvSpPr/>
          <p:nvPr/>
        </p:nvSpPr>
        <p:spPr>
          <a:xfrm>
            <a:off x="6583680" y="4393692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290560" y="4379976"/>
            <a:ext cx="170688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Text 86"/>
          <p:cNvSpPr/>
          <p:nvPr/>
        </p:nvSpPr>
        <p:spPr>
          <a:xfrm>
            <a:off x="8290560" y="4393692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9997440" y="4379976"/>
            <a:ext cx="170688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Text 88"/>
          <p:cNvSpPr/>
          <p:nvPr/>
        </p:nvSpPr>
        <p:spPr>
          <a:xfrm>
            <a:off x="9997440" y="4393692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411480" y="4613148"/>
            <a:ext cx="1129284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92" name="Text 90"/>
          <p:cNvSpPr/>
          <p:nvPr/>
        </p:nvSpPr>
        <p:spPr>
          <a:xfrm>
            <a:off x="502920" y="4657039"/>
            <a:ext cx="6025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F5F5F5"/>
                </a:solidFill>
              </a:rPr>
              <a:t>    </a:t>
            </a:r>
            <a:r>
              <a:rPr sz="1000" b="0" dirty="0">
                <a:solidFill>
                  <a:srgbClr val="F5F5F5"/>
                </a:solidFill>
              </a:rPr>
              <a:t>Memorabilia Bundle*</a:t>
            </a:r>
            <a:r>
              <a:rPr lang="en-US" sz="1000" b="0" dirty="0">
                <a:solidFill>
                  <a:srgbClr val="F5F5F5"/>
                </a:solidFill>
              </a:rPr>
              <a:t> </a:t>
            </a:r>
            <a:r>
              <a:rPr sz="600" i="1" dirty="0">
                <a:solidFill>
                  <a:srgbClr val="B5B9C7"/>
                </a:solidFill>
              </a:rPr>
              <a:t>(signed poster, commemorative item, signed script)</a:t>
            </a:r>
          </a:p>
        </p:txBody>
      </p:sp>
      <p:sp>
        <p:nvSpPr>
          <p:cNvPr id="93" name="Shape 91"/>
          <p:cNvSpPr/>
          <p:nvPr/>
        </p:nvSpPr>
        <p:spPr>
          <a:xfrm>
            <a:off x="6583680" y="4613148"/>
            <a:ext cx="170688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8290560" y="4613148"/>
            <a:ext cx="170688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Text 93"/>
          <p:cNvSpPr/>
          <p:nvPr/>
        </p:nvSpPr>
        <p:spPr>
          <a:xfrm>
            <a:off x="8290560" y="4626864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9997440" y="4613148"/>
            <a:ext cx="170688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Text 95"/>
          <p:cNvSpPr/>
          <p:nvPr/>
        </p:nvSpPr>
        <p:spPr>
          <a:xfrm>
            <a:off x="9997440" y="4626864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411480" y="4846320"/>
            <a:ext cx="1129284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99" name="Text 97"/>
          <p:cNvSpPr/>
          <p:nvPr/>
        </p:nvSpPr>
        <p:spPr>
          <a:xfrm>
            <a:off x="502920" y="4890211"/>
            <a:ext cx="6025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F5F5F5"/>
                </a:solidFill>
              </a:rPr>
              <a:t>    </a:t>
            </a:r>
            <a:r>
              <a:rPr sz="1000" b="0" dirty="0">
                <a:solidFill>
                  <a:srgbClr val="F5F5F5"/>
                </a:solidFill>
              </a:rPr>
              <a:t>Marquee Bundle*</a:t>
            </a:r>
            <a:r>
              <a:rPr lang="en-US" sz="1000" b="0" dirty="0"/>
              <a:t> </a:t>
            </a:r>
            <a:r>
              <a:rPr sz="600" i="1" dirty="0">
                <a:solidFill>
                  <a:srgbClr val="B5B9C7"/>
                </a:solidFill>
              </a:rPr>
              <a:t>(premiere invitation, ticket access, special thanks acknowledgment)</a:t>
            </a:r>
          </a:p>
        </p:txBody>
      </p:sp>
      <p:sp>
        <p:nvSpPr>
          <p:cNvPr id="100" name="Shape 98"/>
          <p:cNvSpPr/>
          <p:nvPr/>
        </p:nvSpPr>
        <p:spPr>
          <a:xfrm>
            <a:off x="6583680" y="4846320"/>
            <a:ext cx="170688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8290560" y="4846320"/>
            <a:ext cx="170688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Text 100"/>
          <p:cNvSpPr/>
          <p:nvPr/>
        </p:nvSpPr>
        <p:spPr>
          <a:xfrm>
            <a:off x="8290560" y="4860036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9997440" y="4846320"/>
            <a:ext cx="1706880" cy="233172"/>
          </a:xfrm>
          <a:prstGeom prst="rect">
            <a:avLst/>
          </a:prstGeom>
          <a:solidFill>
            <a:srgbClr val="0A0D1A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Text 102"/>
          <p:cNvSpPr/>
          <p:nvPr/>
        </p:nvSpPr>
        <p:spPr>
          <a:xfrm>
            <a:off x="9997440" y="4860036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411480" y="5079492"/>
            <a:ext cx="1129284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06" name="Text 104"/>
          <p:cNvSpPr/>
          <p:nvPr/>
        </p:nvSpPr>
        <p:spPr>
          <a:xfrm>
            <a:off x="502920" y="5123383"/>
            <a:ext cx="6025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F5F5F5"/>
                </a:solidFill>
              </a:rPr>
              <a:t>    </a:t>
            </a:r>
            <a:r>
              <a:rPr sz="1000" b="0" dirty="0">
                <a:solidFill>
                  <a:srgbClr val="F5F5F5"/>
                </a:solidFill>
              </a:rPr>
              <a:t>Premiere On Set Bundle*</a:t>
            </a:r>
            <a:r>
              <a:rPr lang="en-US" sz="1000" b="0" dirty="0"/>
              <a:t> </a:t>
            </a:r>
            <a:r>
              <a:rPr sz="600" i="1" dirty="0">
                <a:solidFill>
                  <a:srgbClr val="B5B9C7"/>
                </a:solidFill>
              </a:rPr>
              <a:t>(set visit, private producer event, festival/launch invitation, highest acknowledgment)</a:t>
            </a:r>
          </a:p>
        </p:txBody>
      </p:sp>
      <p:sp>
        <p:nvSpPr>
          <p:cNvPr id="107" name="Shape 105"/>
          <p:cNvSpPr/>
          <p:nvPr/>
        </p:nvSpPr>
        <p:spPr>
          <a:xfrm>
            <a:off x="6583680" y="5079492"/>
            <a:ext cx="170688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Shape 106"/>
          <p:cNvSpPr/>
          <p:nvPr/>
        </p:nvSpPr>
        <p:spPr>
          <a:xfrm>
            <a:off x="8290560" y="5079492"/>
            <a:ext cx="170688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Shape 107"/>
          <p:cNvSpPr/>
          <p:nvPr/>
        </p:nvSpPr>
        <p:spPr>
          <a:xfrm>
            <a:off x="9997440" y="5079492"/>
            <a:ext cx="1706880" cy="233172"/>
          </a:xfrm>
          <a:prstGeom prst="rect">
            <a:avLst/>
          </a:prstGeom>
          <a:solidFill>
            <a:srgbClr val="090C18"/>
          </a:solidFill>
          <a:ln w="12700">
            <a:solidFill>
              <a:srgbClr val="2A2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" name="Text 108"/>
          <p:cNvSpPr/>
          <p:nvPr/>
        </p:nvSpPr>
        <p:spPr>
          <a:xfrm>
            <a:off x="9997440" y="5093208"/>
            <a:ext cx="1706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680"/>
                </a:solidFill>
              </a:rPr>
              <a:t>✓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457200" y="642823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>
                <a:solidFill>
                  <a:srgbClr val="B5B9C7"/>
                </a:solidFill>
              </a:rPr>
              <a:t>* Investor Benefit bundles are courtesy benefits only and are subject to the offering documents, investment tier, availability, scheduling, production realities, legal requirements, and production approval where applicable.</a:t>
            </a:r>
            <a:endParaRPr lang="en-US" sz="7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0" y="6537960"/>
            <a:ext cx="1371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92A2"/>
                </a:solidFill>
              </a:rPr>
              <a:t>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10896"/>
            <a:ext cx="23774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24A"/>
                </a:solidFill>
              </a:rPr>
              <a:t>TIER CARDS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4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Your Level of Participation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877824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BAC6"/>
                </a:solidFill>
              </a:rPr>
              <a:t>Each tier includes the Member Unit economics, with higher tiers adding enhanced participation rights and streamlined investor benefits.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685032" cy="4389120"/>
          </a:xfrm>
          <a:prstGeom prst="roundRect">
            <a:avLst>
              <a:gd name="adj" fmla="val 1241"/>
            </a:avLst>
          </a:prstGeom>
          <a:solidFill>
            <a:srgbClr val="111321"/>
          </a:solidFill>
          <a:ln w="12700">
            <a:solidFill>
              <a:srgbClr val="2A2E43"/>
            </a:solidFill>
            <a:prstDash val="solid"/>
          </a:ln>
          <a:effectLst>
            <a:outerShdw blurRad="12700" dist="762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F5F5F5"/>
                </a:solidFill>
              </a:rPr>
              <a:t>*</a:t>
            </a:r>
            <a:endParaRPr dirty="0"/>
          </a:p>
        </p:txBody>
      </p:sp>
      <p:sp>
        <p:nvSpPr>
          <p:cNvPr id="7" name="Text 5"/>
          <p:cNvSpPr/>
          <p:nvPr/>
        </p:nvSpPr>
        <p:spPr>
          <a:xfrm>
            <a:off x="576072" y="1517904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24A"/>
                </a:solidFill>
              </a:rPr>
              <a:t>SPOTLIGHT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164592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4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$25,000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6072" y="1883664"/>
            <a:ext cx="3355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B7BAC6"/>
                </a:solidFill>
              </a:rPr>
              <a:t>Core capital protection and early participation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576072" y="224028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24A"/>
                </a:solidFill>
              </a:rPr>
              <a:t>•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4088" y="2231136"/>
            <a:ext cx="3227832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5F4EE"/>
                </a:solidFill>
              </a:rPr>
              <a:t>Repayment of invested capital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" y="25694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24A"/>
                </a:solidFill>
              </a:rPr>
              <a:t>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" y="2560320"/>
            <a:ext cx="3227832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5F4EE"/>
                </a:solidFill>
              </a:rPr>
              <a:t>20% preferred return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" y="289864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24A"/>
                </a:solidFill>
              </a:rPr>
              <a:t>•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2889504"/>
            <a:ext cx="3227832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5F4EE"/>
                </a:solidFill>
              </a:rPr>
              <a:t>20% discounted Membership Units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" y="3227832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24A"/>
                </a:solidFill>
              </a:rPr>
              <a:t>•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" y="3218688"/>
            <a:ext cx="3227832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5F4EE"/>
                </a:solidFill>
              </a:rPr>
              <a:t>Priority access to designated incentive proceeds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" y="355701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24A"/>
                </a:solidFill>
              </a:rPr>
              <a:t>•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" y="3547872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F5F5F5"/>
                </a:solidFill>
              </a:rPr>
              <a:t>   </a:t>
            </a:r>
            <a:r>
              <a:rPr sz="1100" b="0" dirty="0">
                <a:solidFill>
                  <a:srgbClr val="F5F5F5"/>
                </a:solidFill>
              </a:rPr>
              <a:t>Investor Updates &amp; Private Screening</a:t>
            </a:r>
            <a:endParaRPr lang="en-US" sz="1100" dirty="0"/>
          </a:p>
          <a:p>
            <a:r>
              <a:rPr lang="en-US" sz="750" i="1" dirty="0">
                <a:solidFill>
                  <a:srgbClr val="B5B9C7"/>
                </a:solidFill>
              </a:rPr>
              <a:t>     </a:t>
            </a:r>
            <a:r>
              <a:rPr sz="750" i="1" dirty="0">
                <a:solidFill>
                  <a:srgbClr val="B5B9C7"/>
                </a:solidFill>
              </a:rPr>
              <a:t>(</a:t>
            </a:r>
            <a:r>
              <a:rPr lang="en-US" sz="750" i="1" dirty="0">
                <a:solidFill>
                  <a:srgbClr val="B5B9C7"/>
                </a:solidFill>
              </a:rPr>
              <a:t>Investor </a:t>
            </a:r>
            <a:r>
              <a:rPr sz="750" i="1" dirty="0">
                <a:solidFill>
                  <a:srgbClr val="B5B9C7"/>
                </a:solidFill>
              </a:rPr>
              <a:t>updates, behind-the-scenes access, private screening)</a:t>
            </a:r>
          </a:p>
        </p:txBody>
      </p:sp>
      <p:sp>
        <p:nvSpPr>
          <p:cNvPr id="20" name="Shape 18"/>
          <p:cNvSpPr/>
          <p:nvPr/>
        </p:nvSpPr>
        <p:spPr>
          <a:xfrm>
            <a:off x="4297680" y="1371600"/>
            <a:ext cx="3685032" cy="4389120"/>
          </a:xfrm>
          <a:prstGeom prst="roundRect">
            <a:avLst>
              <a:gd name="adj" fmla="val 1241"/>
            </a:avLst>
          </a:prstGeom>
          <a:solidFill>
            <a:srgbClr val="111321"/>
          </a:solidFill>
          <a:ln w="12700">
            <a:solidFill>
              <a:srgbClr val="2A2E43"/>
            </a:solidFill>
            <a:prstDash val="solid"/>
          </a:ln>
          <a:effectLst>
            <a:outerShdw blurRad="12700" dist="762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sz="1100"/>
          </a:p>
        </p:txBody>
      </p:sp>
      <p:sp>
        <p:nvSpPr>
          <p:cNvPr id="21" name="Text 19"/>
          <p:cNvSpPr/>
          <p:nvPr/>
        </p:nvSpPr>
        <p:spPr>
          <a:xfrm>
            <a:off x="4462272" y="1517904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24A"/>
                </a:solidFill>
              </a:rPr>
              <a:t>MARQUEE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62272" y="164592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4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$50,000+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462272" y="1883664"/>
            <a:ext cx="3355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B7BAC6"/>
                </a:solidFill>
              </a:rPr>
              <a:t>Added rights and premium access</a:t>
            </a:r>
            <a:endParaRPr lang="en-US" sz="770" dirty="0"/>
          </a:p>
        </p:txBody>
      </p:sp>
      <p:sp>
        <p:nvSpPr>
          <p:cNvPr id="24" name="Text 22"/>
          <p:cNvSpPr/>
          <p:nvPr/>
        </p:nvSpPr>
        <p:spPr>
          <a:xfrm>
            <a:off x="4462272" y="224028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24A"/>
                </a:solidFill>
              </a:rPr>
              <a:t>•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90288" y="2231136"/>
            <a:ext cx="3227832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5F4EE"/>
                </a:solidFill>
              </a:rPr>
              <a:t>Everything in Spotlight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62272" y="25694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24A"/>
                </a:solidFill>
              </a:rPr>
              <a:t>•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90288" y="2560320"/>
            <a:ext cx="3227832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5F4EE"/>
                </a:solidFill>
              </a:rPr>
              <a:t>Upside participation rights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62272" y="289864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24A"/>
                </a:solidFill>
              </a:rPr>
              <a:t>•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90288" y="2889504"/>
            <a:ext cx="3227832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5F4EE"/>
                </a:solidFill>
              </a:rPr>
              <a:t>Pro rata rights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62272" y="3227832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24A"/>
                </a:solidFill>
              </a:rPr>
              <a:t>•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90288" y="321868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rgbClr val="F5F5F5"/>
                </a:solidFill>
              </a:rPr>
              <a:t>   </a:t>
            </a:r>
            <a:r>
              <a:rPr sz="1100" b="0" dirty="0">
                <a:solidFill>
                  <a:srgbClr val="F5F5F5"/>
                </a:solidFill>
              </a:rPr>
              <a:t>Memorabilia Bundle*</a:t>
            </a:r>
            <a:endParaRPr lang="en-US" sz="800" dirty="0"/>
          </a:p>
          <a:p>
            <a:r>
              <a:rPr lang="en-US" sz="750" i="1" dirty="0">
                <a:solidFill>
                  <a:srgbClr val="B5B9C7"/>
                </a:solidFill>
              </a:rPr>
              <a:t>    </a:t>
            </a:r>
            <a:r>
              <a:rPr sz="750" i="1" dirty="0">
                <a:solidFill>
                  <a:srgbClr val="B5B9C7"/>
                </a:solidFill>
              </a:rPr>
              <a:t>(</a:t>
            </a:r>
            <a:r>
              <a:rPr lang="en-US" sz="750" i="1" dirty="0">
                <a:solidFill>
                  <a:srgbClr val="B5B9C7"/>
                </a:solidFill>
              </a:rPr>
              <a:t>S</a:t>
            </a:r>
            <a:r>
              <a:rPr sz="750" i="1" dirty="0">
                <a:solidFill>
                  <a:srgbClr val="B5B9C7"/>
                </a:solidFill>
              </a:rPr>
              <a:t>igned poster, commemorative item, signed script)</a:t>
            </a:r>
          </a:p>
        </p:txBody>
      </p:sp>
      <p:sp>
        <p:nvSpPr>
          <p:cNvPr id="32" name="Text 30"/>
          <p:cNvSpPr/>
          <p:nvPr/>
        </p:nvSpPr>
        <p:spPr>
          <a:xfrm>
            <a:off x="4462272" y="355701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24A"/>
                </a:solidFill>
              </a:rPr>
              <a:t>•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90288" y="3547872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rgbClr val="F5F5F5"/>
                </a:solidFill>
              </a:rPr>
              <a:t>   </a:t>
            </a:r>
            <a:r>
              <a:rPr sz="1100" b="0" dirty="0">
                <a:solidFill>
                  <a:srgbClr val="F5F5F5"/>
                </a:solidFill>
              </a:rPr>
              <a:t>Marquee Bundle*</a:t>
            </a:r>
            <a:endParaRPr lang="en-US" sz="800" dirty="0"/>
          </a:p>
          <a:p>
            <a:r>
              <a:rPr lang="en-US" sz="750" i="1" dirty="0">
                <a:solidFill>
                  <a:srgbClr val="B5B9C7"/>
                </a:solidFill>
              </a:rPr>
              <a:t>    </a:t>
            </a:r>
            <a:r>
              <a:rPr sz="750" i="1" dirty="0">
                <a:solidFill>
                  <a:srgbClr val="B5B9C7"/>
                </a:solidFill>
              </a:rPr>
              <a:t>(</a:t>
            </a:r>
            <a:r>
              <a:rPr lang="en-US" sz="750" i="1" dirty="0">
                <a:solidFill>
                  <a:srgbClr val="B5B9C7"/>
                </a:solidFill>
              </a:rPr>
              <a:t>P</a:t>
            </a:r>
            <a:r>
              <a:rPr sz="750" i="1" dirty="0">
                <a:solidFill>
                  <a:srgbClr val="B5B9C7"/>
                </a:solidFill>
              </a:rPr>
              <a:t>remiere invitation, ticket access, special thanks acknowledgment)</a:t>
            </a:r>
          </a:p>
        </p:txBody>
      </p:sp>
      <p:sp>
        <p:nvSpPr>
          <p:cNvPr id="34" name="Shape 32"/>
          <p:cNvSpPr/>
          <p:nvPr/>
        </p:nvSpPr>
        <p:spPr>
          <a:xfrm>
            <a:off x="8183880" y="1371600"/>
            <a:ext cx="3685032" cy="4389120"/>
          </a:xfrm>
          <a:prstGeom prst="roundRect">
            <a:avLst>
              <a:gd name="adj" fmla="val 1241"/>
            </a:avLst>
          </a:prstGeom>
          <a:solidFill>
            <a:srgbClr val="111321"/>
          </a:solidFill>
          <a:ln w="12700">
            <a:solidFill>
              <a:srgbClr val="D4A24A"/>
            </a:solidFill>
            <a:prstDash val="solid"/>
          </a:ln>
          <a:effectLst>
            <a:outerShdw blurRad="12700" dist="762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8348472" y="1517904"/>
            <a:ext cx="11887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24A"/>
                </a:solidFill>
              </a:rPr>
              <a:t>PREMIERE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348472" y="164592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4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$100,000+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348472" y="1883664"/>
            <a:ext cx="3355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B7BAC6"/>
                </a:solidFill>
              </a:rPr>
              <a:t>Highest participation, access, and recognition</a:t>
            </a:r>
            <a:endParaRPr lang="en-US" sz="770" dirty="0"/>
          </a:p>
        </p:txBody>
      </p:sp>
      <p:sp>
        <p:nvSpPr>
          <p:cNvPr id="38" name="Text 36"/>
          <p:cNvSpPr/>
          <p:nvPr/>
        </p:nvSpPr>
        <p:spPr>
          <a:xfrm>
            <a:off x="8348472" y="224028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24A"/>
                </a:solidFill>
              </a:rPr>
              <a:t>•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76488" y="2231136"/>
            <a:ext cx="3227832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5F4EE"/>
                </a:solidFill>
              </a:rPr>
              <a:t>Everything in Marquee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48472" y="25694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24A"/>
                </a:solidFill>
              </a:rPr>
              <a:t>•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76488" y="2560320"/>
            <a:ext cx="3227832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5F4EE"/>
                </a:solidFill>
              </a:rPr>
              <a:t>Priority allocation rights, if limited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48472" y="289864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24A"/>
                </a:solidFill>
              </a:rPr>
              <a:t>•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476488" y="2889504"/>
            <a:ext cx="3227832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5F4EE"/>
                </a:solidFill>
              </a:rPr>
              <a:t>First-priority allocation rights, if limited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48472" y="3227832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24A"/>
                </a:solidFill>
              </a:rPr>
              <a:t>•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476488" y="3218688"/>
            <a:ext cx="3227832" cy="16459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5F4EE"/>
                </a:solidFill>
              </a:rPr>
              <a:t>Most-favored economic terms protection, if offered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348472" y="355701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24A"/>
                </a:solidFill>
              </a:rPr>
              <a:t>•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476488" y="3547871"/>
            <a:ext cx="3227832" cy="3495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rgbClr val="F5F5F5"/>
                </a:solidFill>
              </a:rPr>
              <a:t>    </a:t>
            </a:r>
            <a:r>
              <a:rPr sz="1100" b="0" dirty="0">
                <a:solidFill>
                  <a:srgbClr val="F5F5F5"/>
                </a:solidFill>
              </a:rPr>
              <a:t>Premiere On Set Bundle*</a:t>
            </a:r>
            <a:endParaRPr lang="en-US" sz="800" dirty="0"/>
          </a:p>
          <a:p>
            <a:r>
              <a:rPr lang="en-US" sz="750" i="1" dirty="0">
                <a:solidFill>
                  <a:srgbClr val="B5B9C7"/>
                </a:solidFill>
              </a:rPr>
              <a:t>      </a:t>
            </a:r>
            <a:r>
              <a:rPr sz="750" i="1" dirty="0">
                <a:solidFill>
                  <a:srgbClr val="B5B9C7"/>
                </a:solidFill>
              </a:rPr>
              <a:t>(</a:t>
            </a:r>
            <a:r>
              <a:rPr lang="en-US" sz="750" i="1" dirty="0">
                <a:solidFill>
                  <a:srgbClr val="B5B9C7"/>
                </a:solidFill>
              </a:rPr>
              <a:t>S</a:t>
            </a:r>
            <a:r>
              <a:rPr sz="750" i="1" dirty="0">
                <a:solidFill>
                  <a:srgbClr val="B5B9C7"/>
                </a:solidFill>
              </a:rPr>
              <a:t>et visit, private producer event, festival/launch invitation, highest</a:t>
            </a:r>
            <a:r>
              <a:rPr lang="en-US" sz="750" i="1" dirty="0">
                <a:solidFill>
                  <a:srgbClr val="B5B9C7"/>
                </a:solidFill>
              </a:rPr>
              <a:t> </a:t>
            </a:r>
            <a:r>
              <a:rPr sz="750" i="1" dirty="0">
                <a:solidFill>
                  <a:srgbClr val="B5B9C7"/>
                </a:solidFill>
              </a:rPr>
              <a:t> </a:t>
            </a:r>
            <a:r>
              <a:rPr lang="en-US" sz="750" i="1" dirty="0">
                <a:solidFill>
                  <a:srgbClr val="B5B9C7"/>
                </a:solidFill>
              </a:rPr>
              <a:t>     </a:t>
            </a:r>
            <a:r>
              <a:rPr sz="750" i="1" dirty="0">
                <a:solidFill>
                  <a:srgbClr val="B5B9C7"/>
                </a:solidFill>
              </a:rPr>
              <a:t>acknowledgment)</a:t>
            </a:r>
          </a:p>
        </p:txBody>
      </p:sp>
      <p:sp>
        <p:nvSpPr>
          <p:cNvPr id="48" name="Text 46"/>
          <p:cNvSpPr/>
          <p:nvPr/>
        </p:nvSpPr>
        <p:spPr>
          <a:xfrm>
            <a:off x="457200" y="642823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dirty="0">
                <a:solidFill>
                  <a:srgbClr val="B5B9C7"/>
                </a:solidFill>
              </a:rPr>
              <a:t>* Investor Benefit bundles are courtesy benefits only and are subject to the offering documents, investment tier, availability, scheduling, production realities, legal requirements, and production approval where applicable.</a:t>
            </a:r>
            <a:endParaRPr lang="en-US" sz="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573</Words>
  <Application>Microsoft Macintosh PowerPoint</Application>
  <PresentationFormat>Widescreen</PresentationFormat>
  <Paragraphs>124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Spotlight Marquee Premiere Tiers</dc:title>
  <dc:subject>Updated investor tier deck</dc:subject>
  <dc:creator>OpenAI</dc:creator>
  <cp:lastModifiedBy>LaFleur, Kim</cp:lastModifiedBy>
  <cp:revision>2</cp:revision>
  <dcterms:created xsi:type="dcterms:W3CDTF">2026-03-30T16:56:18Z</dcterms:created>
  <dcterms:modified xsi:type="dcterms:W3CDTF">2026-03-30T17:42:03Z</dcterms:modified>
</cp:coreProperties>
</file>